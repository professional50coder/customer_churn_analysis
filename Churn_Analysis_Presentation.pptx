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82880"/>
            <a:ext cx="2560320" cy="256032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BUSINESS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47472" y="2011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Retention Strategy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47472" y="2788920"/>
            <a:ext cx="4572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944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Dataset  ·  7,043 Customers  ·  ML-Powered Insights  ·  March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3401568"/>
            <a:ext cx="192024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3401568"/>
            <a:ext cx="19202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4564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" y="3886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96312" y="3401568"/>
            <a:ext cx="192024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3401568"/>
            <a:ext cx="1920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34564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96312" y="3886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45152" y="3401568"/>
            <a:ext cx="192024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5152" y="3401568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34564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$139K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45152" y="3886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at Risk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93992" y="3401568"/>
            <a:ext cx="192024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3992" y="3401568"/>
            <a:ext cx="19202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34564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93992" y="3886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in this deck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20624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0584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113385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1554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matters · dataset overview · objectives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2286000"/>
            <a:ext cx="420624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28600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28600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6112" y="241401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Deep-Dive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28346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· payment · tenure · service analysis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3566160"/>
            <a:ext cx="420624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56616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56616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369417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4114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4-cluster customer profiling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1005840"/>
            <a:ext cx="420624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100584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100584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30952" y="113385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30952" y="1554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Random Forest · GBM · AUC 0.841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2286000"/>
            <a:ext cx="420624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228600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228600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30952" y="241401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Drivers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30952" y="28346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· top 10 predictors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566160"/>
            <a:ext cx="420624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90872" y="356616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356616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30952" y="369417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Playbook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30952" y="4114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P0/P1/P2 initiatives · projected ROI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for tackling churn now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8631936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 in 4 customers is leaving. At $74/month average, every churned customer costs $888/year in lost revenue."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56032" y="2331720"/>
            <a:ext cx="4224528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331720"/>
            <a:ext cx="422452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High Churn Rate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276148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 of 7,043 customers churned — 1,869 accounts lost, $139K MRR disappearing monthly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4224528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331720"/>
            <a:ext cx="422452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Early Tenure Crisis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91456" y="276148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53.3% of new customers (0–6 mo) churn — more than half leave before becoming profitable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3593592"/>
            <a:ext cx="4224528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3593592"/>
            <a:ext cx="422452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6850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Revenue Concentration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4048" y="402336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churners are Fiber Optic users paying $90/mo avg — highest spend, highest exit 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93592"/>
            <a:ext cx="4224528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593592"/>
            <a:ext cx="422452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36850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Predictable but Ignored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91456" y="402336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achieves AUC 0.841 — churn signals exist weeks before a customer leaves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Churn dataset · 7,043 rows · 20 features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18288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24128"/>
            <a:ext cx="18288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789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" y="1527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7373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Dataset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0280" y="1024128"/>
            <a:ext cx="18288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1024128"/>
            <a:ext cx="18288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0789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240280" y="1527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17373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 of total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24528" y="1024128"/>
            <a:ext cx="18288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24528" y="1024128"/>
            <a:ext cx="18288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0789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224528" y="1527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24528" y="17373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encoding: 23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08776" y="1024128"/>
            <a:ext cx="18288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08776" y="1024128"/>
            <a:ext cx="1828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0789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08776" y="1527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08776" y="17373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churn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73568" y="1024128"/>
            <a:ext cx="9144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73568" y="1024128"/>
            <a:ext cx="9144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73568" y="107899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973568" y="15270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17373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6032" y="21762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6032" y="251460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5694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 Demographics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828800" y="2587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Senior, Partner, Dependents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" y="306324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1181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Services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828800" y="31363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Internet, Security, Backup, Support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" y="361188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6667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Billing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828800" y="36850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Payment Method, Paperless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6032" y="416052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215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Financial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828800" y="42336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Charges, Total Charges, Tenure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09160" y="2176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Pipeline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709160" y="2514600"/>
            <a:ext cx="41605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45736" y="2596896"/>
            <a:ext cx="237744" cy="2377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45736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74920" y="25511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92240" y="25694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→ numeric · NaN imputation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9160" y="2953512"/>
            <a:ext cx="41605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45736" y="3035808"/>
            <a:ext cx="237744" cy="2377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45736" y="3026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74920" y="2990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92240" y="3008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for 19 categorical features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09160" y="3392424"/>
            <a:ext cx="41605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45736" y="3474720"/>
            <a:ext cx="237744" cy="2377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45736" y="3465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7492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92240" y="34472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Logistic Regression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09160" y="3831336"/>
            <a:ext cx="41605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45736" y="3913632"/>
            <a:ext cx="237744" cy="2377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45736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74920" y="3867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9224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Random Forest · Gradient Boosting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09160" y="4270248"/>
            <a:ext cx="41605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45736" y="4352544"/>
            <a:ext cx="237744" cy="2377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45736" y="4343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074920" y="43068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92240" y="4325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· Confusion Matrix · F1 Score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709160" y="4709160"/>
            <a:ext cx="41605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45736" y="4791456"/>
            <a:ext cx="237744" cy="2377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45736" y="47823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074920" y="47457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492240" y="4764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probability assigned to every customer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— CONTRACT &amp; PAYMENT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highest-leverage retention signals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6032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353312"/>
            <a:ext cx="4224528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264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7007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3,875 customers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609344"/>
            <a:ext cx="1554480" cy="201168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609344"/>
            <a:ext cx="1327526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554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6032" y="2221992"/>
            <a:ext cx="4224528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951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256946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1,473 customers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2478024"/>
            <a:ext cx="1554480" cy="201168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2478024"/>
            <a:ext cx="35131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423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56032" y="3090672"/>
            <a:ext cx="4224528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638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343814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1,695 customers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3346704"/>
            <a:ext cx="1554480" cy="201168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0" y="3346704"/>
            <a:ext cx="87051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3291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56032" y="4041648"/>
            <a:ext cx="4224528" cy="804672"/>
          </a:xfrm>
          <a:prstGeom prst="rect">
            <a:avLst/>
          </a:prstGeom>
          <a:solidFill>
            <a:srgbClr val="0D1E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087368"/>
            <a:ext cx="395020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Action: Offer 15% discount to convert M2M customers to annual plans. Targeted at Day 60 post-signup.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353312"/>
            <a:ext cx="420624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14081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73168" y="1700784"/>
            <a:ext cx="2560320" cy="164592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1700784"/>
            <a:ext cx="231965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14813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663440" y="2066544"/>
            <a:ext cx="420624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1214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Mailed Check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73168" y="2414016"/>
            <a:ext cx="2560320" cy="164592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414016"/>
            <a:ext cx="97804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2194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19.1%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663440" y="2779776"/>
            <a:ext cx="420624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2834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 (Auto)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73168" y="3127248"/>
            <a:ext cx="2560320" cy="164592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3168" y="3127248"/>
            <a:ext cx="855147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29077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663440" y="3493008"/>
            <a:ext cx="420624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547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(Auto)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73168" y="3840480"/>
            <a:ext cx="2560320" cy="164592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3840480"/>
            <a:ext cx="778337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0" y="362102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663440" y="4041648"/>
            <a:ext cx="4206240" cy="804672"/>
          </a:xfrm>
          <a:prstGeom prst="rect">
            <a:avLst/>
          </a:prstGeom>
          <a:solidFill>
            <a:srgbClr val="0D1E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408736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Action: $5/month credit to switch to auto-pay. E-check users churn at 3× the rate of auto-pay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— TENURE &amp; SERVICE ADD-ONS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service and product depth are the strongest loyalty signals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6032" y="987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Tenure Cohort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35430"/>
            <a:ext cx="594360" cy="203073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7939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60273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14984" y="2198370"/>
            <a:ext cx="594360" cy="136779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194233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35.9%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" y="360273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 mo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09928" y="2472690"/>
            <a:ext cx="594360" cy="109347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221665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64208" y="360273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13–24 mo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04872" y="2743200"/>
            <a:ext cx="594360" cy="822960"/>
          </a:xfrm>
          <a:prstGeom prst="rect">
            <a:avLst/>
          </a:prstGeom>
          <a:solidFill>
            <a:srgbClr val="D9A237"/>
          </a:solidFill>
          <a:ln w="12700">
            <a:solidFill>
              <a:srgbClr val="D9A2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248716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59152" y="360273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25–36 mo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99816" y="2842260"/>
            <a:ext cx="594360" cy="723900"/>
          </a:xfrm>
          <a:prstGeom prst="rect">
            <a:avLst/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9816" y="258622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54096" y="360273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37–48 mo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4760" y="3204210"/>
            <a:ext cx="594360" cy="36195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94817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360273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49–72 mo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566160"/>
            <a:ext cx="4480560" cy="0"/>
          </a:xfrm>
          <a:prstGeom prst="line">
            <a:avLst/>
          </a:prstGeom>
          <a:noFill/>
          <a:ln w="12700">
            <a:solidFill>
              <a:srgbClr val="1F2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9319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53.3% of 0–6 month customers churn — the #1 intervention window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Ownership vs Churn Rate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1389888"/>
            <a:ext cx="416052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4538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Security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28032" y="1755648"/>
            <a:ext cx="1184880" cy="16459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7373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Without: 41.8%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92240" y="1755648"/>
            <a:ext cx="413857" cy="16459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7373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14.6%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29600" y="159105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-27.2pp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09160" y="2258568"/>
            <a:ext cx="416052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3225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Support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28032" y="2624328"/>
            <a:ext cx="1179210" cy="16459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6060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Without: 41.6%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92240" y="2624328"/>
            <a:ext cx="430865" cy="16459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26060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15.2%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29600" y="245973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-26.4pp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09160" y="3127248"/>
            <a:ext cx="416052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1912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Backup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28032" y="3493008"/>
            <a:ext cx="1131021" cy="16459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4747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Without: 39.9%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92240" y="3493008"/>
            <a:ext cx="612282" cy="16459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474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21.6%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29600" y="332841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-18.3pp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709160" y="3995928"/>
            <a:ext cx="416052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40599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Protection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28032" y="4361688"/>
            <a:ext cx="1108344" cy="16459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43434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Without: 39.1%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92240" y="4361688"/>
            <a:ext cx="637794" cy="16459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434340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22.5%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229600" y="419709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-16.6pp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709160" y="4041648"/>
            <a:ext cx="4160520" cy="594360"/>
          </a:xfrm>
          <a:prstGeom prst="rect">
            <a:avLst/>
          </a:prstGeom>
          <a:solidFill>
            <a:srgbClr val="0D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406908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Bundle Online Security + Tech Support as 'Protect+' at $8/mo — 30-day free trial at signup.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(k=4) on tenure · monthly charges · total charges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4224528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24128"/>
            <a:ext cx="42245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15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Loyalists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36392" y="115214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D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152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591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~1,159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" y="18470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95728" y="1591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95728" y="18470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mo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" y="2286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95728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95728" y="2286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MRR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2468880"/>
            <a:ext cx="3931920" cy="329184"/>
          </a:xfrm>
          <a:prstGeom prst="rect">
            <a:avLst/>
          </a:prstGeom>
          <a:solidFill>
            <a:srgbClr val="0D1E35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871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Long-tenured low-spenders. Rare churn. Focus: gentle ARPU upsell.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024128"/>
            <a:ext cx="4224528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24128"/>
            <a:ext cx="422452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1115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Seekers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43800" y="115214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D1E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1152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91456" y="1591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~1,904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91456" y="18470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03136" y="1591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03136" y="18470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91456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91456" y="2286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03136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03136" y="2286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MRR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91456" y="2468880"/>
            <a:ext cx="3931920" cy="329184"/>
          </a:xfrm>
          <a:prstGeom prst="rect">
            <a:avLst/>
          </a:prstGeom>
          <a:solidFill>
            <a:srgbClr val="0D1E35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4871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 loyal customers. Very profitable. Lock in with 2-year plans.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035808"/>
            <a:ext cx="4224528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3035808"/>
            <a:ext cx="422452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At-Risk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136392" y="316382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D1E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36392" y="31638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4048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~1,704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84048" y="3858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395728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395728" y="3858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84048" y="4041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84048" y="4297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395728" y="4041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395728" y="4297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MRR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4048" y="4480560"/>
            <a:ext cx="3931920" cy="329184"/>
          </a:xfrm>
          <a:prstGeom prst="rect">
            <a:avLst/>
          </a:prstGeom>
          <a:solidFill>
            <a:srgbClr val="0D1E35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498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low-spend customers in critical onboarding phase. Needs 90-day program.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3035808"/>
            <a:ext cx="4224528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3035808"/>
            <a:ext cx="4224528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1456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Stable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543800" y="316382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D1E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43800" y="31638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RISK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791456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~2,276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791456" y="3858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803136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03136" y="3858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791456" y="4041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791456" y="4297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03136" y="4041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03136" y="4297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MRR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91456" y="4480560"/>
            <a:ext cx="3931920" cy="329184"/>
          </a:xfrm>
          <a:prstGeom prst="rect">
            <a:avLst/>
          </a:prstGeom>
          <a:solidFill>
            <a:srgbClr val="0D1E35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64608" y="4498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high-spend customers. Highest revenue risk. Immediate outreach essential.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— PERFORMANCE COMPARISON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trained · Gradient Boosting achieves best AUC of 0.841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65176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6517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6070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" y="15087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AUC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7190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79.9%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005840"/>
            <a:ext cx="265176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005840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06070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63240" y="15087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AUC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63240" y="17190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78.8%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70448" y="1005840"/>
            <a:ext cx="265176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0448" y="1005840"/>
            <a:ext cx="26517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106070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 ★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70448" y="15087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AUC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70448" y="17190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80.6%  BEST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" y="2194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(Random Forest)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" y="256032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6334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927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56032" y="30723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(Correct: Retained)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21992" y="256032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21992" y="26334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221992" y="30723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(Predicted Churn)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356616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6393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256032" y="4078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(Missed Churn)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21992" y="356616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21992" y="36393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2221992" y="4078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(Correct: Churn)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6032" y="24231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 rot="16200000">
            <a:off x="256032" y="2560320"/>
            <a:ext cx="182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Actual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9768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(Random Forest)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297680" y="2578608"/>
            <a:ext cx="42428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4256" y="2615184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97296" y="2615184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2615184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87184" y="2615184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82128" y="2615184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97680" y="2926080"/>
            <a:ext cx="4242816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4256" y="298094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(0)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97296" y="2980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92240" y="2980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187184" y="2980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882128" y="2980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1,035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297680" y="3310128"/>
            <a:ext cx="4242816" cy="365760"/>
          </a:xfrm>
          <a:prstGeom prst="rect">
            <a:avLst/>
          </a:prstGeom>
          <a:solidFill>
            <a:srgbClr val="0D152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34256" y="33649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 (1)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797296" y="336499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92240" y="336499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187184" y="336499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882128" y="336499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297680" y="3694176"/>
            <a:ext cx="4242816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34256" y="374904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97296" y="374904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492240" y="374904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187184" y="374904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82128" y="374904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1,409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297680" y="4078224"/>
            <a:ext cx="4242816" cy="365760"/>
          </a:xfrm>
          <a:prstGeom prst="rect">
            <a:avLst/>
          </a:prstGeom>
          <a:solidFill>
            <a:srgbClr val="0D152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34256" y="41330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797296" y="413308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492240" y="413308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187184" y="413308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882128" y="413308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1,409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DRIVERS — FEATURE IMPORTANCE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Top 10 predictors of customer churn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20240" y="1078992"/>
            <a:ext cx="4389120" cy="274320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078992"/>
            <a:ext cx="4081882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6070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06070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46520" y="106070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20240" y="1472184"/>
            <a:ext cx="4389120" cy="274320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472184"/>
            <a:ext cx="3928262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45389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145389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145389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20240" y="1865376"/>
            <a:ext cx="4389120" cy="274320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1865376"/>
            <a:ext cx="3511296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847088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1847088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1847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20240" y="2258568"/>
            <a:ext cx="4389120" cy="274320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2258568"/>
            <a:ext cx="16459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240280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224028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22402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920240" y="2651760"/>
            <a:ext cx="4389120" cy="274320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2651760"/>
            <a:ext cx="1141171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33472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" y="2633472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46520" y="263347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920240" y="3044952"/>
            <a:ext cx="4389120" cy="274320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3044952"/>
            <a:ext cx="943661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02666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" y="302666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Security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46520" y="302666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920240" y="3438144"/>
            <a:ext cx="4389120" cy="274320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0240" y="3438144"/>
            <a:ext cx="943661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341985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" y="34198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Support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46520" y="341985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920240" y="3831336"/>
            <a:ext cx="4389120" cy="274320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0240" y="3831336"/>
            <a:ext cx="636422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" y="3813048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" y="3813048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46520" y="38130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0.029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920240" y="4224528"/>
            <a:ext cx="4389120" cy="274320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4224528"/>
            <a:ext cx="614477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" y="4206240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8368" y="4206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Backup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46520" y="42062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920240" y="4617720"/>
            <a:ext cx="4389120" cy="274320"/>
          </a:xfrm>
          <a:prstGeom prst="rect">
            <a:avLst/>
          </a:prstGeom>
          <a:solidFill>
            <a:srgbClr val="1F2A4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4617720"/>
            <a:ext cx="614477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" y="4599432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8368" y="4599432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446520" y="4599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78040" y="1024128"/>
            <a:ext cx="1645920" cy="713232"/>
          </a:xfrm>
          <a:prstGeom prst="rect">
            <a:avLst/>
          </a:prstGeom>
          <a:solidFill>
            <a:srgbClr val="0D1E35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78040" y="1024128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87768" y="10881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Financial Signals Dominate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7287768" y="13533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+ MonthlyCharges = 36.5% of total importance. High cost without perceived value is the primary exit trigger.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178040" y="2029968"/>
            <a:ext cx="1645920" cy="713232"/>
          </a:xfrm>
          <a:prstGeom prst="rect">
            <a:avLst/>
          </a:prstGeom>
          <a:solidFill>
            <a:srgbClr val="0D1E35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78040" y="2029968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87768" y="20939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Tenure = Loyalty Proxy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7287768" y="23591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(16%) confirms long-term customers are significantly more stable. Early months are the vulnerability window.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178040" y="3035808"/>
            <a:ext cx="1645920" cy="713232"/>
          </a:xfrm>
          <a:prstGeom prst="rect">
            <a:avLst/>
          </a:prstGeom>
          <a:solidFill>
            <a:srgbClr val="0D1E35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78040" y="3035808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87768" y="30998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Contract Type is Actionable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7287768" y="33649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(7.5%) is the highest-importance feature that can be directly changed by a business offer. Highest ROI lever.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178040" y="4041648"/>
            <a:ext cx="1645920" cy="713232"/>
          </a:xfrm>
          <a:prstGeom prst="rect">
            <a:avLst/>
          </a:prstGeom>
          <a:solidFill>
            <a:srgbClr val="0D1E35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78040" y="4041648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87768" y="41056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Add-ons Signal Engagement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7287768" y="43708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Support features (8.6% combined) indicate product depth. Shallow users disengage and leave.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STRATEGY PLAYBOOK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initiatives ranked by impact · projected $636K MRR saved in Year 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8631936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0607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71216" y="10607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91456" y="106070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68696" y="106070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Saved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45936" y="106070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1389888"/>
            <a:ext cx="8631936" cy="548640"/>
          </a:xfrm>
          <a:prstGeom prst="rect">
            <a:avLst/>
          </a:prstGeom>
          <a:solidFill>
            <a:srgbClr val="1A0F0F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4996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Contract Upgrade Incentive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71216" y="149961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customers (1,655)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91456" y="1499616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68696" y="1499616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27648" y="149961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1E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49961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1965960"/>
            <a:ext cx="8631936" cy="548640"/>
          </a:xfrm>
          <a:prstGeom prst="rect">
            <a:avLst/>
          </a:prstGeom>
          <a:solidFill>
            <a:srgbClr val="1A0F0F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0756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Auto-Pay Enrollment Drive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71216" y="207568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E-Check users (1,071)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91456" y="2075688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68696" y="2075688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7648" y="2075688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1E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207568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2542032"/>
            <a:ext cx="8631936" cy="548640"/>
          </a:xfrm>
          <a:prstGeom prst="rect">
            <a:avLst/>
          </a:prstGeom>
          <a:solidFill>
            <a:srgbClr val="1A100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265176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90-Day Onboarding Program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71216" y="26517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0–6 mo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91456" y="2651760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68696" y="2651760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27648" y="265176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1E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65176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3118104"/>
            <a:ext cx="8631936" cy="548640"/>
          </a:xfrm>
          <a:prstGeom prst="rect">
            <a:avLst/>
          </a:prstGeom>
          <a:solidFill>
            <a:srgbClr val="1A100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32278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Protect+ Bundle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71216" y="32278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add-ons (1,800)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91456" y="3227832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568696" y="3227832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27648" y="322783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1E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322783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" y="3694176"/>
            <a:ext cx="8631936" cy="548640"/>
          </a:xfrm>
          <a:prstGeom prst="rect">
            <a:avLst/>
          </a:prstGeom>
          <a:solidFill>
            <a:srgbClr val="0A180E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" y="380390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Senior Customer Program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871216" y="380390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(476)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91456" y="3803904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568696" y="3803904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27648" y="3803904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380390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6032" y="4270248"/>
            <a:ext cx="8631936" cy="548640"/>
          </a:xfrm>
          <a:prstGeom prst="rect">
            <a:avLst/>
          </a:prstGeom>
          <a:solidFill>
            <a:srgbClr val="0A180E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37997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Fiber Satisfaction Fix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871216" y="43799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users (1,297)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91456" y="4379976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568696" y="4379976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$12K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27648" y="437997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437997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6032" y="4626864"/>
            <a:ext cx="8631936" cy="365760"/>
          </a:xfrm>
          <a:prstGeom prst="rect">
            <a:avLst/>
          </a:prstGeom>
          <a:solidFill>
            <a:srgbClr val="0D1E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Projected MRR Saved: $636K/yr  ·  Program Cost: ~$85K  ·  ROI: 6.5×  ·  Payback: Month 2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INITIATIVES — IMMEDIATE WINS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 · payback under 60 days · combined $59K MRR saved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4224528" cy="4005072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24128"/>
            <a:ext cx="422452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424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CRITICAL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Upgrade Incentive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19933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Problem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194560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1,655 month-to-month customers churning at 42.7%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468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15% annual plan discount, valid for 30 days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9443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Trigger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145536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 post-signup OR any cancellation intent signal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34198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Channel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3621024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banner + Email sequence + Outbound call (high-value)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38953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Target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4096512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20% → ~330 customers retained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" y="4370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Impact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4572000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$38K MRR saved  ·  Net positive even after 15% discount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024128"/>
            <a:ext cx="4224528" cy="400507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24128"/>
            <a:ext cx="4224528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10424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CRITICAL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91456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Auto-Pay Enrollment Drive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91456" y="19933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Problem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2194560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2,365 e-check users churning at 45.3% — 3× the auto-pay 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2468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91456" y="2670048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$5/month bill credit for switching to bank transfer or credit card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91456" y="29443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Trigger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91456" y="3145536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1 + Bill 2 + Month 3 (if still on e-check)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91456" y="34198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Channel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91456" y="3621024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sequence + SMS reminder + Paper bill insert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91456" y="38953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Target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91456" y="4096512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30% of 1,071 priority users → 268 customers saved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91456" y="4370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Impact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91456" y="4572000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$21K MRR saved  ·  Cost: ~$1.3K/mo in credits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&amp; P2 INITIATIVES — MEDIUM &amp; LONG-TERM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loyalty infrastructure · Month 1–6 implementation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4224528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24128"/>
            <a:ext cx="422452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155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90-Day Onboarding Program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15453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9961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53.3% of new customers churn in first 6 months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84048" y="17647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71907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7: Setup confirmation call / email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384048" y="19842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93852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30: NPS pulse survey + feature activation check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84048" y="22037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15798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90: Review call + contract upgrade offer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84048" y="24231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37744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% activating 3+ features in Month 1 (target &gt;60%)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84048" y="26426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59689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20% churn reduction → 140 customers saved/mo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663440" y="1024128"/>
            <a:ext cx="4224528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024128"/>
            <a:ext cx="422452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11155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Protect+ Bundle Offer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91456" y="15453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9961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customers without Security/Support — 41% churn rate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91456" y="17647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71907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Bundle: Online Security + Tech Support = $8/mo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791456" y="19842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93852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free trial auto-attached at signup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791456" y="22037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15798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trial-to-paid conversion (industry benchmark)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791456" y="24231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37744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$14K MRR churn reduction + $14.4K new revenue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791456" y="26426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59689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MRR uplift: +$28K/mo at full attach rate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256032" y="2990088"/>
            <a:ext cx="4224528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2990088"/>
            <a:ext cx="42245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0815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Senior Customer Program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84048" y="351129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346557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476 senior citizens churning at 41.7%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384048" y="37307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68503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'Senior Plan': simplified billing + priority support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384048" y="3950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390448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font app UI + free setup/onboarding service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384048" y="41696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412394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Outreach: direct mail + phone (preferred channels)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384048" y="43891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434340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15% churn reduction → 30 seniors retained/mo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663440" y="2990088"/>
            <a:ext cx="4224528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2990088"/>
            <a:ext cx="42245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30815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Fiber Satisfaction Fix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4791456" y="351129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346557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1,297 Fiber users paying $90/mo but churning at 41.9%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4791456" y="37307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368503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proactive NPS + speed test audit for all fiber accounts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4791456" y="3950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90448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discount at Month 6 for retained fiber customers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4791456" y="41696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37760" y="412394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likely reliability issues + competitive pricing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4791456" y="43891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0" y="434340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12% churn reduction → 155 high-value saves/quarter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 &amp; 12-MONTH PROJECTION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retention program · projected $636K MRR saved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20574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24128"/>
            <a:ext cx="20574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7899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$636K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" y="152704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Saved (Year 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73736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024128"/>
            <a:ext cx="20574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24128"/>
            <a:ext cx="2057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07899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~$85K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68880" y="152704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173736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+ staff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81728" y="1024128"/>
            <a:ext cx="20574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1024128"/>
            <a:ext cx="20574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07899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81728" y="152704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ROI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81728" y="173736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94576" y="1024128"/>
            <a:ext cx="196596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94576" y="1024128"/>
            <a:ext cx="19659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107899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94576" y="15270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94576" y="173736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initiatives alone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" y="2194560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Count — Baseline vs With Strategy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462272"/>
            <a:ext cx="8046720" cy="0"/>
          </a:xfrm>
          <a:prstGeom prst="line">
            <a:avLst/>
          </a:prstGeom>
          <a:noFill/>
          <a:ln w="6350">
            <a:solidFill>
              <a:srgbClr val="1F2A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352544"/>
            <a:ext cx="329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0080" y="3954272"/>
            <a:ext cx="8046720" cy="0"/>
          </a:xfrm>
          <a:prstGeom prst="line">
            <a:avLst/>
          </a:prstGeom>
          <a:noFill/>
          <a:ln w="6350">
            <a:solidFill>
              <a:srgbClr val="1F2A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844544"/>
            <a:ext cx="329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" y="3446272"/>
            <a:ext cx="8046720" cy="0"/>
          </a:xfrm>
          <a:prstGeom prst="line">
            <a:avLst/>
          </a:prstGeom>
          <a:noFill/>
          <a:ln w="6350">
            <a:solidFill>
              <a:srgbClr val="1F2A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336544"/>
            <a:ext cx="329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0080" y="2938272"/>
            <a:ext cx="8046720" cy="0"/>
          </a:xfrm>
          <a:prstGeom prst="line">
            <a:avLst/>
          </a:prstGeom>
          <a:noFill/>
          <a:ln w="6350">
            <a:solidFill>
              <a:srgbClr val="1F2A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828544"/>
            <a:ext cx="329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" y="2877312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371600" y="2877312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2103120" y="2877312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834640" y="2877312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566160" y="2877312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297680" y="2877312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029200" y="2877312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760720" y="2877312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492240" y="2877312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7223760" y="2877312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7955280" y="2877312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640080" y="2877312"/>
            <a:ext cx="731520" cy="8128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5216" y="28224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0" y="2958592"/>
            <a:ext cx="731520" cy="9144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16736" y="29037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03120" y="3050032"/>
            <a:ext cx="731520" cy="10160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48256" y="29951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34640" y="3151632"/>
            <a:ext cx="731520" cy="11176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79776" y="30967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3263392"/>
            <a:ext cx="731520" cy="11176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11296" y="32085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97680" y="3375152"/>
            <a:ext cx="731520" cy="9144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42816" y="33202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200" y="3466592"/>
            <a:ext cx="731520" cy="7112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74336" y="34117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0" y="3537712"/>
            <a:ext cx="731520" cy="6096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05856" y="34828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3598672"/>
            <a:ext cx="731520" cy="5080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37376" y="35438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23760" y="3649472"/>
            <a:ext cx="731520" cy="4064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68896" y="35946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55280" y="3690112"/>
            <a:ext cx="731520" cy="4064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00416" y="36352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31936" y="36758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18872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92024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65176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38328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11480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84632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57784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30936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04088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777240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503920" y="45171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943600" y="4828032"/>
            <a:ext cx="36576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6400800" y="47548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 Action)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943600" y="5047488"/>
            <a:ext cx="36576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00800" y="497433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Retention Program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KPI DASHBOARD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36576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these monthly to measure retention program effectiveness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8631936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515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0515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0515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10515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08176"/>
            <a:ext cx="8631936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408176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1790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0" y="151790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15179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18%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15179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1975104"/>
            <a:ext cx="8631936" cy="530352"/>
          </a:xfrm>
          <a:prstGeom prst="rect">
            <a:avLst/>
          </a:prstGeom>
          <a:solidFill>
            <a:srgbClr val="0D152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1975104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0848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Mix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0" y="20848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20848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20848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2542032"/>
            <a:ext cx="8631936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542032"/>
            <a:ext cx="54864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6517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Auto-Pay Adoption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0" y="26517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2651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26517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108960"/>
            <a:ext cx="8631936" cy="530352"/>
          </a:xfrm>
          <a:prstGeom prst="rect">
            <a:avLst/>
          </a:prstGeom>
          <a:solidFill>
            <a:srgbClr val="0D152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108960"/>
            <a:ext cx="54864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2186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Activation Rate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14800" y="321868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32186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0" y="32186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6032" y="3675888"/>
            <a:ext cx="8631936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3675888"/>
            <a:ext cx="54864" cy="5303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7856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 (Fiber + Senior)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114800" y="37856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32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0" y="37856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89520" y="378561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" y="4242816"/>
            <a:ext cx="8631936" cy="530352"/>
          </a:xfrm>
          <a:prstGeom prst="rect">
            <a:avLst/>
          </a:prstGeom>
          <a:solidFill>
            <a:srgbClr val="0D1520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4242816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3525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AUC (GBM)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114800" y="435254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943600" y="435254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0.870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89520" y="435254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" y="4773168"/>
            <a:ext cx="8631936" cy="256032"/>
          </a:xfrm>
          <a:prstGeom prst="rect">
            <a:avLst/>
          </a:prstGeom>
          <a:solidFill>
            <a:srgbClr val="0D1E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7823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Deploy GBM model as weekly batch scoring job → integrate churn scores into CRM → trigger automated retention workflows for all customers &gt; 60% risk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92608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8686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Reacting.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Predicting Churn.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47472" y="2176272"/>
            <a:ext cx="4572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395728"/>
            <a:ext cx="4224528" cy="1143000"/>
          </a:xfrm>
          <a:prstGeom prst="rect">
            <a:avLst/>
          </a:prstGeom>
          <a:solidFill>
            <a:srgbClr val="0D1E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Deploy Model in Production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8529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GBM batch scoring → CRM integration → auto-trigger outreach for customers above 60% churn risk score.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395728"/>
            <a:ext cx="4224528" cy="1143000"/>
          </a:xfrm>
          <a:prstGeom prst="rect">
            <a:avLst/>
          </a:prstGeom>
          <a:solidFill>
            <a:srgbClr val="0D1E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Launch P0 Immediately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82896" y="28529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upgrade + auto-pay enrollment today. Payback in 60 days, $59K/mo MRR saved. No complex builds needed.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657600"/>
            <a:ext cx="4224528" cy="1143000"/>
          </a:xfrm>
          <a:prstGeom prst="rect">
            <a:avLst/>
          </a:prstGeom>
          <a:solidFill>
            <a:srgbClr val="0D1E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749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Fix Onboarding (P1)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4114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53.3% first-6-month churn is a company emergency. 90-day structured program with activation tracking is non-negotiable.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4224528" cy="1143000"/>
          </a:xfrm>
          <a:prstGeom prst="rect">
            <a:avLst/>
          </a:prstGeom>
          <a:solidFill>
            <a:srgbClr val="0D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3749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6.5× ROI Awaits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82896" y="4114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$85K investment → $636K Year 1 MRR recovery. Churn is expensive. Prevention is cheap. The data makes the case.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" y="482803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Strategy Team  ·  March 2026  ·  Confidential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&amp; Retention Strategy</dc:title>
  <dc:subject>PptxGenJS Presentation</dc:subject>
  <dc:creator>PptxGenJS</dc:creator>
  <cp:lastModifiedBy>PptxGenJS</cp:lastModifiedBy>
  <cp:revision>1</cp:revision>
  <dcterms:created xsi:type="dcterms:W3CDTF">2026-03-04T16:36:32Z</dcterms:created>
  <dcterms:modified xsi:type="dcterms:W3CDTF">2026-03-04T16:36:32Z</dcterms:modified>
</cp:coreProperties>
</file>